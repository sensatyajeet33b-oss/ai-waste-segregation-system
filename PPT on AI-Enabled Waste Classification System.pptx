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188720"/>
            <a:ext cx="4389120" cy="43891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3017520" cy="301752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182880"/>
            <a:ext cx="1828800" cy="18288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118872" cy="25603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15568"/>
            <a:ext cx="77724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AI-Enabled Smart Waste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77724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Segregation System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" y="2670048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C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YOLOv8 + MobileNetV2  |  Two-Stage Hybrid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425696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Waste Classifier Project Report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589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– Background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Setting the stage: why waste management demands urgent attention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416052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18488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🌆  Rapid Urbanization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822192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Population growth and urban expansion are driving explosive increases in municipal solid waste (MSW) volumes globally, overwhelming existing infrastructure.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08760"/>
            <a:ext cx="416052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18488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👷  Manual Labor Dependency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822192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Developing nations depend heavily on manual waste segregation — a process that is slow, inconsistent, and exposes workers to serious health hazards.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29184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91840"/>
            <a:ext cx="416052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01568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♻️  Segregation is Critical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3840480"/>
            <a:ext cx="3822192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Separating waste into biodegradable (wet) and non-biodegradable (dry) categories is essential for efficient recycling, composting, and reducing landfill use.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91840"/>
            <a:ext cx="416052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401568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 AI as the Solution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37760" y="3840480"/>
            <a:ext cx="3822192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Artificial Intelligence combined with IoT can transform waste systems into smart, automated pipelines that operate 24/7 with high accuracy and minimal human input.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589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– Role of AI &amp; IoT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cutting-edge technologies are reshaping waste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4023360" cy="3291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72768"/>
            <a:ext cx="3749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 Artificial Intelligence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212140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D4E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Recognizes patterns in waste images using deep learning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75488" y="260604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D4E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Classifies waste types with high accuracy automatically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475488" y="3090672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D4E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Improves over time as more data is processed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475488" y="3575304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D4E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Enables object detection across multiple waste items in one frame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75488" y="4059936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D4E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Models: YOLOv8 (detection) + MobileNetV2 (classification)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800600" y="1481328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481328"/>
            <a:ext cx="4023360" cy="47548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536192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  Internet of Things (IoT)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084832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Connects cameras, sensors, and bins to a central system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937760" y="2578608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Monitors fill levels using ultrasonic / weight sensors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937760" y="3072384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Enables real-time data streaming and remote alerts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Supports smart city infrastructure integration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4937760" y="4059936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Together with AI, creates fully autonomous waste pipelines</a:t>
            </a:r>
            <a:endParaRPr lang="en-US" sz="11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D20"/>
          </a:solidFill>
          <a:ln w="12700">
            <a:solidFill>
              <a:srgbClr val="1A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589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waste segregation is failing cities on every front: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508760"/>
            <a:ext cx="276148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508760"/>
            <a:ext cx="82296" cy="164592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18488"/>
            <a:ext cx="250545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  Inefficiency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075688"/>
            <a:ext cx="2505456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sorting creates critical bottlenecks in waste pipelines. The sheer volume of urban waste makes hand-sorting impossible at scale.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508760"/>
            <a:ext cx="276148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508760"/>
            <a:ext cx="82296" cy="164592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618488"/>
            <a:ext cx="250545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Human Error &amp; Fatigue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2075688"/>
            <a:ext cx="2505456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Tired or untrained workers frequently misclassify waste. Inconsistent sorting contaminates recyclables and reduces recycling rates.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1508760"/>
            <a:ext cx="276148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508760"/>
            <a:ext cx="82296" cy="164592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18488"/>
            <a:ext cx="250545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🏥  Serious Health Risks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2075688"/>
            <a:ext cx="2505456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handling of mixed waste exposes workers to pathogens, toxic chemicals, sharp objects, and biologically harmful materials.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" y="3337560"/>
            <a:ext cx="276148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3337560"/>
            <a:ext cx="82296" cy="1645920"/>
          </a:xfrm>
          <a:prstGeom prst="rect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447288"/>
            <a:ext cx="250545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📈  Scalability Failure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" y="3904488"/>
            <a:ext cx="2505456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urban waste grows, traditional manual systems simply cannot keep up. Capacity cannot be doubled by merely hiring more workers.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3337560"/>
            <a:ext cx="276148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3337560"/>
            <a:ext cx="82296" cy="1645920"/>
          </a:xfrm>
          <a:prstGeom prst="rect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447288"/>
            <a:ext cx="250545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🌍  Environmental Damage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01568" y="3904488"/>
            <a:ext cx="2505456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Improperly segregated waste increases landfill use, methane emissions, plastic pollution, and long-term environmental degradation.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589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 – System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two-stage AI hybrid pipeline that automatically detects and classifies waste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234440" cy="123444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82496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93192" y="2798064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673352" y="1664208"/>
            <a:ext cx="56692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7BC62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221992" y="1481328"/>
            <a:ext cx="1234440" cy="12344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1992" y="1682496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12264" y="2798064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92424" y="1664208"/>
            <a:ext cx="56692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7BC62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941064" y="1481328"/>
            <a:ext cx="1234440" cy="123444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1064" y="1682496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31336" y="2798064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11496" y="1664208"/>
            <a:ext cx="56692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7BC62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660136" y="1481328"/>
            <a:ext cx="1234440" cy="12344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0136" y="1682496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50408" y="2798064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MobileNetV2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30568" y="1664208"/>
            <a:ext cx="56692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7BC62"/>
                </a:solidFill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79208" y="1481328"/>
            <a:ext cx="1234440" cy="12344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1682496"/>
            <a:ext cx="1234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69480" y="2798064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Dry / Wet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493008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493008"/>
            <a:ext cx="416052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1129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 — Object Detection (YOLOv8)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950208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Detects multiple waste objects in a single image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57200" y="4215384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Draws bounding boxes around each object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Classes: Biodegradable, Cardboard, Glass, Metal, Paper, Plastic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457200" y="4745736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Trained: 100 epochs | 640×640 px | AdamW optimizer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754880" y="3493008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493008"/>
            <a:ext cx="4160520" cy="3840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51129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 — Classification (MobileNetV2)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950208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Each detected region is cropped individually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4892040" y="4215384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Cropped patch sent to MobileNetV2 binary classifier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4892040" y="4480560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Output: Dry (non-biodegradable) vs Wet (biodegradable)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4892040" y="4745736"/>
            <a:ext cx="3913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Trained: 20 epochs | Binary Cross-Entropy | Transfer Learning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589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 – Technical Details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Datasets, training environment, and model architecture specifics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481328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481328"/>
            <a:ext cx="2788920" cy="457200"/>
          </a:xfrm>
          <a:prstGeom prst="rect">
            <a:avLst/>
          </a:prstGeom>
          <a:solidFill>
            <a:srgbClr val="1A3D20"/>
          </a:solidFill>
          <a:ln w="12700">
            <a:solidFill>
              <a:srgbClr val="1A3D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17904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Environment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" y="2084832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121408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Platform: Google Colab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2670048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706624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GPU: NVIDIA Tesla T4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3255264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29184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Frameworks: PyTorch + TensorFlow/Keras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3840480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877056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split: 70% train / 30% val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4425696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4462272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Augmentation: rotation, flipping, brightness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18688" y="1481328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1481328"/>
            <a:ext cx="278892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517904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– Detection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55848" y="2084832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2121408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Epochs: 100  |  Batch: 16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55848" y="2670048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2706624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size: 640 × 640 px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55848" y="3255264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329184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Optimizer: AdamW  |  LR: 0.001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55848" y="3840480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877056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mAP@50: 0.733  |  mAP@50-95: 0.553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55848" y="4425696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462272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Precision: 0.817  |  Recall: 0.651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44768" y="1481328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44768" y="1481328"/>
            <a:ext cx="278892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1517904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MobileNetV2 – Classification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81928" y="2084832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3368" y="2121408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Epochs: 20  |  Batch: 16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81928" y="2670048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2706624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size: 160 × 160 px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81928" y="3255264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3368" y="329184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Optimizer: Adam  |  Loss: Binary 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81928" y="3840480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3877056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Accuracy: 96.5%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81928" y="4425696"/>
            <a:ext cx="2487168" cy="475488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4462272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Accuracy: 92%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92608" y="5074920"/>
            <a:ext cx="8577072" cy="0"/>
          </a:xfrm>
          <a:prstGeom prst="rect">
            <a:avLst/>
          </a:prstGeom>
          <a:noFill/>
        </p:spPr>
      </p:sp>
      <p:sp>
        <p:nvSpPr>
          <p:cNvPr id="46" name="Text 44"/>
          <p:cNvSpPr/>
          <p:nvPr/>
        </p:nvSpPr>
        <p:spPr>
          <a:xfrm>
            <a:off x="292735" y="4901057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 Datasets:  Kaggle Waste Classification Dataset  ·  Roboflow Garbage Classification  ·  Web-scraped Images  ·  Self-collected Photos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D20"/>
          </a:solidFill>
          <a:ln w="12700">
            <a:solidFill>
              <a:srgbClr val="1A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589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 vs Existing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292608" y="1005840"/>
          <a:ext cx="8577072" cy="406908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828800"/>
                <a:gridCol w="2999232"/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 / Criteria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Manual Sorting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Single-Model AI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Our Hybrid AI System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Detection Method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Human eyes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CNN pass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YOLOv8 object detection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Classification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Manual judgment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Global image label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MobileNetV2 per object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Multi-Object Handling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Slow &amp; inconsistent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 Multiple per image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Varies (human error)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Moderate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 92% val. accuracy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slow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Moderate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 Real-time capable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Scalability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 Very limited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 Highly scalable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Worker Safety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 High risk exposure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 automation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 Fully automated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Works 24/7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✗ No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 Yes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 Yes, continuous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 Interface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Basic / CLI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✔ Web-based upload &amp; view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589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Performance &amp;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024128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24128"/>
            <a:ext cx="4114800" cy="43891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— Detection Metrics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572768"/>
            <a:ext cx="3822192" cy="594360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572768"/>
            <a:ext cx="2801667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82496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mAP@50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46120" y="1682496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0.733</a:t>
            </a:r>
            <a:endParaRPr lang="en-US" sz="125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" y="2340864"/>
            <a:ext cx="3822192" cy="594360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340864"/>
            <a:ext cx="2113672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5059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mAP@50-95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46120" y="2450592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0.553</a:t>
            </a:r>
            <a:endParaRPr lang="en-US" sz="125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8912" y="3108960"/>
            <a:ext cx="3822192" cy="594360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3108960"/>
            <a:ext cx="3122731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18688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46120" y="3218688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0.817</a:t>
            </a:r>
            <a:endParaRPr lang="en-US" sz="125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" y="3877056"/>
            <a:ext cx="3822192" cy="594360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877056"/>
            <a:ext cx="2488247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8678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46120" y="3986784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0.651</a:t>
            </a:r>
            <a:endParaRPr lang="en-US" sz="125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36592" y="1024128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1024128"/>
            <a:ext cx="4114800" cy="43891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42416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MobileNetV2 — Classification Metrics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64608" y="1572768"/>
            <a:ext cx="3822192" cy="594360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64608" y="1572768"/>
            <a:ext cx="73152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60934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Accuracy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8745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96.5%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64608" y="2340864"/>
            <a:ext cx="3822192" cy="594360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2340864"/>
            <a:ext cx="73152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3774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Accuracy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0" y="264261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92%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64608" y="3108960"/>
            <a:ext cx="3822192" cy="594360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64608" y="3108960"/>
            <a:ext cx="73152" cy="5943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1455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Loss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0" y="341071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Decreasing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64608" y="3877056"/>
            <a:ext cx="3822192" cy="594360"/>
          </a:xfrm>
          <a:prstGeom prst="rect">
            <a:avLst/>
          </a:prstGeom>
          <a:solidFill>
            <a:srgbClr val="E8EDE8"/>
          </a:solidFill>
          <a:ln w="12700">
            <a:solidFill>
              <a:srgbClr val="E8ED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64608" y="3877056"/>
            <a:ext cx="73152" cy="594360"/>
          </a:xfrm>
          <a:prstGeom prst="rect">
            <a:avLst/>
          </a:prstGeom>
          <a:solidFill>
            <a:srgbClr val="1A3D20"/>
          </a:solidFill>
          <a:ln w="12700">
            <a:solidFill>
              <a:srgbClr val="1A3D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91363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29200" y="417880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Learning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589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 – Enhancements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Near-term improvements to expand the system's capabilities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64792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051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002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Smart Bins Integration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2002536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 cameras in smart dustbins to automatically classify waste at the point of disposal. Ultrasonic and weight sensors detect fill levels and notify authorities when bins are full — enabling proactive waste collection.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20040" y="269748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953512"/>
            <a:ext cx="548640" cy="54864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9923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78892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Robotic Arm for Automated Sorting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80" y="3191256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Attach a robotic arm to conveyor belt systems in recycling plants. The arm uses real-time classification results to physically pick and sort waste into correct bins, eliminating manual labor entirely.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4142232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18795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97764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Video Stream Detection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4379976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Upgrade from static image processing to live CCTV video stream analysis. This enables continuous round-the-clock monitoring of waste disposal sites, landfills, and public bins without human oversight.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589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 – Broader Vision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7C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Long-term directions for scalability, sustainability and impact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64792"/>
            <a:ext cx="548640" cy="548640"/>
          </a:xfrm>
          <a:prstGeom prst="ellipse">
            <a:avLst/>
          </a:prstGeom>
          <a:solidFill>
            <a:srgbClr val="1A3D20"/>
          </a:solidFill>
          <a:ln w="12700">
            <a:solidFill>
              <a:srgbClr val="1A3D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051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002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City Infrastructure Integration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2002536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the system to municipal waste management dashboards. Enable automated garbage truck routing, smart collection scheduling, and centralized monitoring across an entire city's bin network.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20040" y="269748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953512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9923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78892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Environmental Impact Monitoring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80" y="3191256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analytics to measure carbon footprint reduction, landfill diversion rates, and recycling recovery percentages over time. Reports can inform policy decisions and sustainability targets.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4142232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18795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97764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Expansion &amp; Model Improvement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97280" y="4379976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the dataset with more waste types, edge cases, and diverse environments (night, rain, occlusion). Larger datasets and improved architectures will further push classification accuracy beyond 95%.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D20"/>
          </a:solidFill>
          <a:ln w="12700">
            <a:solidFill>
              <a:srgbClr val="1A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589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12618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successfully built and deployed an AI-powered waste detection and classification system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 overcomes the limitations of manual segregation through a two-stage hybrid deep learning approach.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2450592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450592"/>
            <a:ext cx="20116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2578608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Accurate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" y="3127248"/>
            <a:ext cx="1755648" cy="1664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identifies multiple waste objects per image with 81.7% precision and 0.733 mAP@50 score.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450592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2450592"/>
            <a:ext cx="201168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2578608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Reliable Classification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96896" y="3127248"/>
            <a:ext cx="1755648" cy="1664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MobileNetV2 classifies Dry vs Wet waste with 92% validation accuracy via transfer learning.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450592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450592"/>
            <a:ext cx="20116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2578608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Real-World Interface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45736" y="3127248"/>
            <a:ext cx="1755648" cy="1664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app lets users upload images and see bounding-box detection results in real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2450592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2450592"/>
            <a:ext cx="201168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2578608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Scalable &amp; Modular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94576" y="3127248"/>
            <a:ext cx="1755648" cy="16642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Two-stage design handles growing volumes and is ready for IoT and smart city expansion.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2926080" cy="292608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137160"/>
            <a:ext cx="1828800" cy="18288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3291840"/>
            <a:ext cx="3657600" cy="36576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Waste Detection &amp; Classification System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944368"/>
            <a:ext cx="7315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D4E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 Welcome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4224528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52544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4E8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 ·  MobileNetV2  ·  Two-Stage Hybrid AI  ·  Waste Classifier Report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7208</Words>
  <Application>WPS Presentation</Application>
  <PresentationFormat>On-screen Show (16:9)</PresentationFormat>
  <Paragraphs>392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Waste Classifier</dc:title>
  <dc:creator>PptxGenJS</dc:creator>
  <dc:subject>PptxGenJS Presentation</dc:subject>
  <cp:lastModifiedBy>SURYANSH MOHANTY</cp:lastModifiedBy>
  <cp:revision>2</cp:revision>
  <dcterms:created xsi:type="dcterms:W3CDTF">2026-04-07T06:45:00Z</dcterms:created>
  <dcterms:modified xsi:type="dcterms:W3CDTF">2026-04-09T05:59:18Z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E3D7EBA2B6304EED8B7EEF0D00681ABC_13</vt:lpwstr>
  </property>
  <property fmtid="{D5CDD505-2E9C-101B-9397-08002B2CF9AE}" pid="3" name="KSOProductBuildVer">
    <vt:lpwstr>1033-12.2.0.23196</vt:lpwstr>
  </property>
</Properties>
</file>